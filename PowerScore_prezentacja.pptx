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07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8614"/>
            <a:ext cx="3840480" cy="51435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CC006E">
              <a:alpha val="45000"/>
            </a:srgbClr>
          </a:solidFill>
          <a:ln w="12700">
            <a:solidFill>
              <a:srgbClr val="CC006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3200400"/>
            <a:ext cx="2286000" cy="2286000"/>
          </a:xfrm>
          <a:prstGeom prst="ellipse">
            <a:avLst/>
          </a:prstGeom>
          <a:solidFill>
            <a:srgbClr val="FF40A0">
              <a:alpha val="35000"/>
            </a:srgbClr>
          </a:solidFill>
          <a:ln w="12700">
            <a:solidFill>
              <a:srgbClr val="FF40A0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t="11602" b="730"/>
          <a:stretch/>
        </p:blipFill>
        <p:spPr>
          <a:xfrm>
            <a:off x="201168" y="283464"/>
            <a:ext cx="731520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1115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CE8"/>
                </a:solidFill>
              </a:rPr>
              <a:t>AI Challenge — TAURON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" y="1426464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PowerScore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AI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201168" y="2971800"/>
            <a:ext cx="5486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" y="30906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CCE8"/>
                </a:solidFill>
              </a:rPr>
              <a:t>Propozycja rozwiązania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CCE8"/>
                </a:solidFill>
              </a:rPr>
              <a:t>dla TAURON Polska Energia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914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Jedyny scoring, który wie ile prądu używasz.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14800" y="16642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TAURON ma dane, których żaden bank nigdy nie będzie miał: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historię zużycia energii każdego klienta.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PowerScore AI łączy te dane z profilem finansowym —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brzmiąc jak scoring, którego nikt inny nie może zbudować.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2834640"/>
            <a:ext cx="2240280" cy="246888"/>
          </a:xfrm>
          <a:prstGeom prst="roundRect">
            <a:avLst>
              <a:gd name="adj" fmla="val 22222"/>
            </a:avLst>
          </a:prstGeom>
          <a:solidFill>
            <a:srgbClr val="2A2A2A"/>
          </a:solidFill>
          <a:ln w="10160">
            <a:solidFill>
              <a:srgbClr val="1A6F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283464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37960" y="2834640"/>
            <a:ext cx="2240280" cy="246888"/>
          </a:xfrm>
          <a:prstGeom prst="roundRect">
            <a:avLst>
              <a:gd name="adj" fmla="val 22222"/>
            </a:avLst>
          </a:prstGeom>
          <a:solidFill>
            <a:srgbClr val="2A2A2A"/>
          </a:solidFill>
          <a:ln w="10160">
            <a:solidFill>
              <a:srgbClr val="0A8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283464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Customer Service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114800" y="3154680"/>
            <a:ext cx="2240280" cy="246888"/>
          </a:xfrm>
          <a:prstGeom prst="roundRect">
            <a:avLst>
              <a:gd name="adj" fmla="val 22222"/>
            </a:avLst>
          </a:prstGeom>
          <a:solidFill>
            <a:srgbClr val="2A2A2A"/>
          </a:solidFill>
          <a:ln w="10160">
            <a:solidFill>
              <a:srgbClr val="8C52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315468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Energy Tools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37960" y="3154680"/>
            <a:ext cx="2240280" cy="246888"/>
          </a:xfrm>
          <a:prstGeom prst="roundRect">
            <a:avLst>
              <a:gd name="adj" fmla="val 22222"/>
            </a:avLst>
          </a:prstGeom>
          <a:solidFill>
            <a:srgbClr val="2A2A2A"/>
          </a:solidFill>
          <a:ln w="10160">
            <a:solidFill>
              <a:srgbClr val="5A3A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315468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Mobile App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0" y="4480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</a:rPr>
              <a:t>Jan Ziomek  ·  Piotr Kaminski  ·  Pawel</a:t>
            </a:r>
            <a:r>
              <a:rPr lang="pl-PL" sz="950" dirty="0">
                <a:solidFill>
                  <a:srgbClr val="999999"/>
                </a:solidFill>
              </a:rPr>
              <a:t> Dziewit</a:t>
            </a:r>
            <a:endParaRPr lang="en-US" sz="9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B3A5479D-CF88-42F9-B1FF-B7C368F9A1CB}"/>
              </a:ext>
            </a:extLst>
          </p:cNvPr>
          <p:cNvSpPr/>
          <p:nvPr/>
        </p:nvSpPr>
        <p:spPr>
          <a:xfrm>
            <a:off x="-828261" y="4488511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950" dirty="0">
                <a:solidFill>
                  <a:schemeClr val="bg1"/>
                </a:solidFill>
              </a:rPr>
              <a:t>19 kwietnia 2026 r. 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007E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475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" y="914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TAURON traci na złych decyzjach kredytowych — dane są publiczne i jednoznaczne.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298448"/>
            <a:ext cx="2029968" cy="107899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3350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3D3D"/>
                </a:solidFill>
              </a:rPr>
              <a:t>498,7 mln zł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" y="1874520"/>
            <a:ext cx="202996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Łączna wartość brutto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należności od odbiorców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59152" y="1298448"/>
            <a:ext cx="2029968" cy="1078992"/>
          </a:xfrm>
          <a:prstGeom prst="rect">
            <a:avLst/>
          </a:prstGeom>
          <a:solidFill>
            <a:srgbClr val="FEF0F0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3350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3A"/>
                </a:solidFill>
              </a:rPr>
              <a:t>46,8 mln zł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59152" y="1874520"/>
            <a:ext cx="202996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Odpisy aktualizujące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na oczekiwane straty kredytowe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3712" y="1298448"/>
            <a:ext cx="2029968" cy="1078992"/>
          </a:xfrm>
          <a:prstGeom prst="rect">
            <a:avLst/>
          </a:prstGeom>
          <a:solidFill>
            <a:srgbClr val="FEF0F0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3350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3A"/>
                </a:solidFill>
              </a:rPr>
              <a:t>38,2 mln zł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53712" y="1874520"/>
            <a:ext cx="202996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Zaległości przeterminowane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powyżej 360 dni (brutto)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48272" y="1298448"/>
            <a:ext cx="2029968" cy="1078992"/>
          </a:xfrm>
          <a:prstGeom prst="rect">
            <a:avLst/>
          </a:prstGeom>
          <a:solidFill>
            <a:srgbClr val="FEF0F0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133502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3A"/>
                </a:solidFill>
              </a:rPr>
              <a:t>57,8%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48272" y="1874520"/>
            <a:ext cx="202996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Poziom odpisów dla należności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3D3D"/>
                </a:solidFill>
              </a:rPr>
              <a:t>sądowo-komorniczych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4592" y="2514600"/>
            <a:ext cx="8732520" cy="502920"/>
          </a:xfrm>
          <a:prstGeom prst="rect">
            <a:avLst/>
          </a:prstGeom>
          <a:solidFill>
            <a:srgbClr val="1A060A"/>
          </a:solidFill>
          <a:ln w="6350">
            <a:solidFill>
              <a:srgbClr val="4A1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514600"/>
            <a:ext cx="64008" cy="502920"/>
          </a:xfrm>
          <a:prstGeom prst="rect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14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Gdy klient trafia do post</a:t>
            </a:r>
            <a:r>
              <a:rPr lang="pl-PL" sz="1050" b="1" dirty="0">
                <a:solidFill>
                  <a:srgbClr val="FFFFFF"/>
                </a:solidFill>
              </a:rPr>
              <a:t>ę</a:t>
            </a:r>
            <a:r>
              <a:rPr lang="en-US" sz="1050" b="1" dirty="0" err="1">
                <a:solidFill>
                  <a:srgbClr val="FFFFFF"/>
                </a:solidFill>
              </a:rPr>
              <a:t>powania</a:t>
            </a:r>
            <a:r>
              <a:rPr lang="en-US" sz="1050" b="1" dirty="0">
                <a:solidFill>
                  <a:srgbClr val="FFFFFF"/>
                </a:solidFill>
              </a:rPr>
              <a:t> s</a:t>
            </a:r>
            <a:r>
              <a:rPr lang="pl-PL" sz="1050" b="1" dirty="0">
                <a:solidFill>
                  <a:srgbClr val="FFFFFF"/>
                </a:solidFill>
              </a:rPr>
              <a:t>ą</a:t>
            </a:r>
            <a:r>
              <a:rPr lang="en-US" sz="1050" b="1" dirty="0" err="1">
                <a:solidFill>
                  <a:srgbClr val="FFFFFF"/>
                </a:solidFill>
              </a:rPr>
              <a:t>dowo-komorniczego</a:t>
            </a:r>
            <a:r>
              <a:rPr lang="en-US" sz="1050" b="1" dirty="0">
                <a:solidFill>
                  <a:srgbClr val="FFFFFF"/>
                </a:solidFill>
              </a:rPr>
              <a:t> — TAURON </a:t>
            </a:r>
            <a:r>
              <a:rPr lang="en-US" sz="1050" b="1" dirty="0" err="1">
                <a:solidFill>
                  <a:srgbClr val="FFFFFF"/>
                </a:solidFill>
              </a:rPr>
              <a:t>odzyskuje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pl-PL" sz="1050" b="1" dirty="0">
                <a:solidFill>
                  <a:srgbClr val="FFFFFF"/>
                </a:solidFill>
              </a:rPr>
              <a:t>ś</a:t>
            </a:r>
            <a:r>
              <a:rPr lang="en-US" sz="1050" b="1" dirty="0" err="1">
                <a:solidFill>
                  <a:srgbClr val="FFFFFF"/>
                </a:solidFill>
              </a:rPr>
              <a:t>redni</a:t>
            </a:r>
            <a:r>
              <a:rPr lang="pl-PL" sz="1050" b="1" dirty="0">
                <a:solidFill>
                  <a:srgbClr val="FFFFFF"/>
                </a:solidFill>
              </a:rPr>
              <a:t>o</a:t>
            </a:r>
            <a:r>
              <a:rPr lang="en-US" sz="1050" b="1" dirty="0">
                <a:solidFill>
                  <a:srgbClr val="FFFFFF"/>
                </a:solidFill>
              </a:rPr>
              <a:t> tylko 42,2% </a:t>
            </a:r>
            <a:r>
              <a:rPr lang="en-US" sz="1050" b="1" dirty="0" err="1">
                <a:solidFill>
                  <a:srgbClr val="FFFFFF"/>
                </a:solidFill>
              </a:rPr>
              <a:t>warto</a:t>
            </a:r>
            <a:r>
              <a:rPr lang="pl-PL" sz="1050" b="1" dirty="0">
                <a:solidFill>
                  <a:srgbClr val="FFFFFF"/>
                </a:solidFill>
              </a:rPr>
              <a:t>ś</a:t>
            </a:r>
            <a:r>
              <a:rPr lang="en-US" sz="1050" b="1" dirty="0">
                <a:solidFill>
                  <a:srgbClr val="FFFFFF"/>
                </a:solidFill>
              </a:rPr>
              <a:t>ci d</a:t>
            </a:r>
            <a:r>
              <a:rPr lang="pl-PL" sz="1050" b="1" dirty="0">
                <a:solidFill>
                  <a:srgbClr val="FFFFFF"/>
                </a:solidFill>
              </a:rPr>
              <a:t>ł</a:t>
            </a:r>
            <a:r>
              <a:rPr lang="en-US" sz="1050" b="1" dirty="0" err="1">
                <a:solidFill>
                  <a:srgbClr val="FFFFFF"/>
                </a:solidFill>
              </a:rPr>
              <a:t>ugu</a:t>
            </a:r>
            <a:r>
              <a:rPr lang="en-US" sz="1050" b="1" dirty="0">
                <a:solidFill>
                  <a:srgbClr val="FFFFFF"/>
                </a:solidFill>
              </a:rPr>
              <a:t>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007E"/>
                </a:solidFill>
              </a:rPr>
              <a:t>Cel PowerScore AI: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6007E"/>
                </a:solidFill>
              </a:rPr>
              <a:t>wychwycic klienta zanim</a:t>
            </a:r>
            <a:endParaRPr lang="en-US" sz="1000" dirty="0"/>
          </a:p>
          <a:p>
            <a:pPr marL="0" indent="0" algn="ctr">
              <a:buNone/>
            </a:pPr>
            <a:r>
              <a:rPr lang="pl-PL" sz="1000" b="1" dirty="0">
                <a:solidFill>
                  <a:srgbClr val="E6007E"/>
                </a:solidFill>
              </a:rPr>
              <a:t>powstanie zaległość</a:t>
            </a:r>
            <a:r>
              <a:rPr lang="en-US" sz="1000" b="1" dirty="0">
                <a:solidFill>
                  <a:srgbClr val="E6007E"/>
                </a:solidFill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3154680"/>
            <a:ext cx="8732520" cy="978408"/>
          </a:xfrm>
          <a:prstGeom prst="rect">
            <a:avLst/>
          </a:prstGeom>
          <a:solidFill>
            <a:srgbClr val="F4F0FF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154680"/>
            <a:ext cx="64008" cy="9144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3489"/>
                </a:solidFill>
              </a:rPr>
              <a:t>Dlaczego Open Banking, a nie BIK?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47472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C3489"/>
                </a:solidFill>
              </a:rPr>
              <a:t>Open Banking daje rzeczywisty obraz sytuacji finansowej klienta tu i teraz — historię transakcji, wzorce płatnicze, salda. Jest szybszy i tańszy niż odpytanie BIK. BIK pozostaje opcją do rozszerzenia na późniejszym etapie.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3246120"/>
            <a:ext cx="3611880" cy="713232"/>
          </a:xfrm>
          <a:prstGeom prst="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2461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C447C"/>
                </a:solidFill>
              </a:rPr>
              <a:t>Sygna</a:t>
            </a:r>
            <a:r>
              <a:rPr lang="pl-PL" sz="1000" b="1" dirty="0">
                <a:solidFill>
                  <a:srgbClr val="0C447C"/>
                </a:solidFill>
              </a:rPr>
              <a:t>ł</a:t>
            </a:r>
            <a:r>
              <a:rPr lang="en-US" sz="1000" b="1" dirty="0">
                <a:solidFill>
                  <a:srgbClr val="0C447C"/>
                </a:solidFill>
              </a:rPr>
              <a:t>y energetyczne = </a:t>
            </a:r>
            <a:r>
              <a:rPr lang="en-US" sz="1000" b="1" dirty="0" err="1">
                <a:solidFill>
                  <a:srgbClr val="0C447C"/>
                </a:solidFill>
              </a:rPr>
              <a:t>sygna</a:t>
            </a:r>
            <a:r>
              <a:rPr lang="pl-PL" sz="1000" b="1" dirty="0">
                <a:solidFill>
                  <a:srgbClr val="0C447C"/>
                </a:solidFill>
              </a:rPr>
              <a:t>ł</a:t>
            </a:r>
            <a:r>
              <a:rPr lang="en-US" sz="1000" b="1" dirty="0">
                <a:solidFill>
                  <a:srgbClr val="0C447C"/>
                </a:solidFill>
              </a:rPr>
              <a:t>y finansowe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5112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</a:rPr>
              <a:t>→  Nag</a:t>
            </a:r>
            <a:r>
              <a:rPr lang="pl-PL" sz="850" dirty="0">
                <a:solidFill>
                  <a:srgbClr val="185FA5"/>
                </a:solidFill>
              </a:rPr>
              <a:t>ł</a:t>
            </a:r>
            <a:r>
              <a:rPr lang="en-US" sz="850" dirty="0">
                <a:solidFill>
                  <a:srgbClr val="185FA5"/>
                </a:solidFill>
              </a:rPr>
              <a:t>y </a:t>
            </a:r>
            <a:r>
              <a:rPr lang="en-US" sz="850" dirty="0" err="1">
                <a:solidFill>
                  <a:srgbClr val="185FA5"/>
                </a:solidFill>
              </a:rPr>
              <a:t>wzrost</a:t>
            </a:r>
            <a:r>
              <a:rPr lang="en-US" sz="850" dirty="0">
                <a:solidFill>
                  <a:srgbClr val="185FA5"/>
                </a:solidFill>
              </a:rPr>
              <a:t> </a:t>
            </a:r>
            <a:r>
              <a:rPr lang="en-US" sz="850" dirty="0" err="1">
                <a:solidFill>
                  <a:srgbClr val="185FA5"/>
                </a:solidFill>
              </a:rPr>
              <a:t>zu</a:t>
            </a:r>
            <a:r>
              <a:rPr lang="pl-PL" sz="850" dirty="0">
                <a:solidFill>
                  <a:srgbClr val="185FA5"/>
                </a:solidFill>
              </a:rPr>
              <a:t>ż</a:t>
            </a:r>
            <a:r>
              <a:rPr lang="en-US" sz="850" dirty="0" err="1">
                <a:solidFill>
                  <a:srgbClr val="185FA5"/>
                </a:solidFill>
              </a:rPr>
              <a:t>ycia</a:t>
            </a:r>
            <a:r>
              <a:rPr lang="en-US" sz="850" dirty="0">
                <a:solidFill>
                  <a:srgbClr val="185FA5"/>
                </a:solidFill>
              </a:rPr>
              <a:t> → problem finansowy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12080" y="37307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</a:rPr>
              <a:t>→  Zmiana taryfy na drozsza → wyzsze ryzyko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212080" y="3950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</a:rPr>
              <a:t>→  Brak PV + wysoki pobor → ekspozycja na ceny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4187952"/>
            <a:ext cx="276148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" y="4306824"/>
            <a:ext cx="146304" cy="146304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06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Rosnące zaległości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42569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3D3D"/>
                </a:solidFill>
              </a:rPr>
              <a:t>Brak early warning. Interwencja dopiero przy windykacji — za późno.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108960" y="4187952"/>
            <a:ext cx="2761488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82112" y="4306824"/>
            <a:ext cx="146304" cy="146304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4206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Onboarding bez weryfikacji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01568" y="442569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3D3D"/>
                </a:solidFill>
              </a:rPr>
              <a:t>Brak zdolności finansowej, e-podpisu, procesu end-to-end.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53328" y="4187952"/>
            <a:ext cx="276148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4306824"/>
            <a:ext cx="146304" cy="146304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4206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Koniec mrożenia cen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45936" y="442569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3D3D"/>
                </a:solidFill>
              </a:rPr>
              <a:t>Wyższe rachunki od 01.01.2026 = więcej klientów z ryzykiem.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64592" y="488289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99999"/>
                </a:solidFill>
              </a:rPr>
              <a:t>Zrodlo: Sprawozdanie finansowe TAURON Polska Energia S.A. za rok obrotowy zakonczony 31 grudnia 2024 r.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029200" y="4828032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007E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475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Rozwiązanie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" y="914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Jeden pipeline — pełne pokrycie od onboardingu po aktywną sprzedaż.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325880"/>
            <a:ext cx="27614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325880"/>
            <a:ext cx="2761488" cy="54864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1426464"/>
            <a:ext cx="841248" cy="329184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42646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KYC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" y="1792224"/>
            <a:ext cx="2761488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</a:rPr>
              <a:t>Weryfikacja tożsamości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" y="2066544"/>
            <a:ext cx="2761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D3D"/>
                </a:solidFill>
              </a:rPr>
              <a:t>KYC · e-podpis · doc check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18745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007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08960" y="1325880"/>
            <a:ext cx="27614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325880"/>
            <a:ext cx="2761488" cy="54864"/>
          </a:xfrm>
          <a:prstGeom prst="rect">
            <a:avLst/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426464"/>
            <a:ext cx="841248" cy="329184"/>
          </a:xfrm>
          <a:prstGeom prst="ellipse">
            <a:avLst/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42646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1792224"/>
            <a:ext cx="2761488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</a:rPr>
              <a:t>Profil finansowo-energetyczny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08960" y="2066544"/>
            <a:ext cx="2761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D3D"/>
                </a:solidFill>
              </a:rPr>
              <a:t>Open Banking PSD2 </a:t>
            </a:r>
            <a:r>
              <a:rPr lang="pl-PL" sz="900" dirty="0">
                <a:solidFill>
                  <a:srgbClr val="3D3D3D"/>
                </a:solidFill>
              </a:rPr>
              <a:t>/</a:t>
            </a:r>
            <a:r>
              <a:rPr lang="en-US" sz="900" dirty="0">
                <a:solidFill>
                  <a:srgbClr val="3D3D3D"/>
                </a:solidFill>
              </a:rPr>
              <a:t> smart meter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16168" y="18745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007E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53328" y="1325880"/>
            <a:ext cx="27614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325880"/>
            <a:ext cx="2761488" cy="54864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13448" y="1426464"/>
            <a:ext cx="841248" cy="329184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142646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53328" y="1792224"/>
            <a:ext cx="2761488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</a:rPr>
              <a:t>AI Scoring + LLM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53328" y="2066544"/>
            <a:ext cx="2761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D3D"/>
                </a:solidFill>
              </a:rPr>
              <a:t>PowerScore 0-1000 + </a:t>
            </a:r>
            <a:r>
              <a:rPr lang="pl-PL" sz="900" dirty="0">
                <a:solidFill>
                  <a:srgbClr val="3D3D3D"/>
                </a:solidFill>
              </a:rPr>
              <a:t>LLM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80944" y="2633472"/>
            <a:ext cx="3108960" cy="731520"/>
          </a:xfrm>
          <a:prstGeom prst="rect">
            <a:avLst/>
          </a:prstGeom>
          <a:solidFill>
            <a:srgbClr val="FEF0F7"/>
          </a:solidFill>
          <a:ln w="10160">
            <a:solidFill>
              <a:srgbClr val="F4B8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80944" y="2633472"/>
            <a:ext cx="3108960" cy="54864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72384" y="2715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007E"/>
                </a:solidFill>
              </a:rPr>
              <a:t>Unikalne wejscie: dane energetyczne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72384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3A"/>
                </a:solidFill>
              </a:rPr>
              <a:t>Historia </a:t>
            </a:r>
            <a:r>
              <a:rPr lang="en-US" sz="900" dirty="0" err="1">
                <a:solidFill>
                  <a:srgbClr val="C0003A"/>
                </a:solidFill>
              </a:rPr>
              <a:t>zu</a:t>
            </a:r>
            <a:r>
              <a:rPr lang="pl-PL" sz="900" dirty="0">
                <a:solidFill>
                  <a:srgbClr val="C0003A"/>
                </a:solidFill>
              </a:rPr>
              <a:t>ż</a:t>
            </a:r>
            <a:r>
              <a:rPr lang="en-US" sz="900" dirty="0" err="1">
                <a:solidFill>
                  <a:srgbClr val="C0003A"/>
                </a:solidFill>
              </a:rPr>
              <a:t>ycia</a:t>
            </a:r>
            <a:r>
              <a:rPr lang="en-US" sz="900" dirty="0">
                <a:solidFill>
                  <a:srgbClr val="C0003A"/>
                </a:solidFill>
              </a:rPr>
              <a:t> · zmiany taryfy · profil PV/EV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51960" y="2487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007E"/>
                </a:solidFill>
              </a:rPr>
              <a:t>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" y="3493008"/>
            <a:ext cx="4224528" cy="1508760"/>
          </a:xfrm>
          <a:prstGeom prst="rect">
            <a:avLst/>
          </a:prstGeom>
          <a:solidFill>
            <a:srgbClr val="EEF5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493008"/>
            <a:ext cx="4224528" cy="64008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6616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47C"/>
                </a:solidFill>
              </a:rPr>
              <a:t>TRYB 1 — Onboarding nowego klienta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87705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5FA5"/>
                </a:solidFill>
              </a:rPr>
              <a:t>—  Weryfikacja tożsamosci + scoring finansowy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178808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5FA5"/>
                </a:solidFill>
              </a:rPr>
              <a:t>—  Rekomendacja: umowa standardowa lub prepaid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4805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5FA5"/>
                </a:solidFill>
              </a:rPr>
              <a:t>—  E-podpis i zawarcie umowy online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493008"/>
            <a:ext cx="4233672" cy="1508760"/>
          </a:xfrm>
          <a:prstGeom prst="rect">
            <a:avLst/>
          </a:prstGeom>
          <a:solidFill>
            <a:srgbClr val="EEFAF5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493008"/>
            <a:ext cx="4233672" cy="640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56616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041"/>
                </a:solidFill>
              </a:rPr>
              <a:t>TRYB 2 — Monitoring aktywnego klienta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56"/>
                </a:solidFill>
              </a:rPr>
              <a:t>—  Cykliczny rescoring co </a:t>
            </a:r>
            <a:r>
              <a:rPr lang="en-US" sz="950" dirty="0" err="1">
                <a:solidFill>
                  <a:srgbClr val="0F6E56"/>
                </a:solidFill>
              </a:rPr>
              <a:t>kwarta</a:t>
            </a:r>
            <a:r>
              <a:rPr lang="pl-PL" sz="950" dirty="0">
                <a:solidFill>
                  <a:srgbClr val="0F6E56"/>
                </a:solidFill>
              </a:rPr>
              <a:t>ł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73168" y="417880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56"/>
                </a:solidFill>
              </a:rPr>
              <a:t>—  Alert przy pogorszeniu profilu finansowego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73168" y="44805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6E56"/>
                </a:solidFill>
              </a:rPr>
              <a:t>—  Cross-sell oparty na profilu klienta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029200" y="4828032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007E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475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Demo — działające MVP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" y="914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Nie mockup. Zbudowane i działające rozwiązanie end-to-end.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298448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298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DZIALAJACE MVP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298448"/>
            <a:ext cx="5650992" cy="502920"/>
          </a:xfrm>
          <a:prstGeom prst="roundRect">
            <a:avLst>
              <a:gd name="adj" fmla="val 14545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98448"/>
            <a:ext cx="565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D"/>
                </a:solidFill>
              </a:rPr>
              <a:t>UI + silnik scoringowy + </a:t>
            </a:r>
            <a:r>
              <a:rPr lang="pl-PL" sz="1050" dirty="0">
                <a:solidFill>
                  <a:srgbClr val="3D3D3D"/>
                </a:solidFill>
              </a:rPr>
              <a:t>testowy</a:t>
            </a:r>
            <a:r>
              <a:rPr lang="en-US" sz="1050" dirty="0">
                <a:solidFill>
                  <a:srgbClr val="3D3D3D"/>
                </a:solidFill>
              </a:rPr>
              <a:t> Open Banking — gotowe do prezentacji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210312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 jury zobaczy w ciągu 90 sekund: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2514600"/>
            <a:ext cx="425196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" y="2743200"/>
            <a:ext cx="384048" cy="38404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26060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Klient wypelnia formularz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289864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Dane osobowe + zgoda na Open Banking — caly flow w jednym widoku.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99432" y="2514600"/>
            <a:ext cx="425196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2743200"/>
            <a:ext cx="384048" cy="38404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21224" y="26060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System pobiera dane finansowe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21224" y="289864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Open Banking zwraca 6 miesiecy historii transakcji. AI kategoryzuje wydatki i wzorce platnicze.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4592" y="3630168"/>
            <a:ext cx="425196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" y="3858768"/>
            <a:ext cx="384048" cy="38404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" y="37216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AI oblicza PowerScore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384" y="4014216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Model klasyfikuje ryzyko na 0-1000. LLM generuje uzasadnienie po polsku.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99432" y="3630168"/>
            <a:ext cx="4251960" cy="1005840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858768"/>
            <a:ext cx="384048" cy="38404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21224" y="37216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Operator widzi rekomendacje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21224" y="4014216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Dashboard: typ umowy + taryfa + </a:t>
            </a:r>
            <a:r>
              <a:rPr lang="en-US" sz="950" i="1" dirty="0">
                <a:solidFill>
                  <a:srgbClr val="3D3D3D"/>
                </a:solidFill>
              </a:rPr>
              <a:t>alerty cross-sell oparte na profilu</a:t>
            </a:r>
            <a:r>
              <a:rPr lang="en-US" sz="950" dirty="0">
                <a:solidFill>
                  <a:srgbClr val="3D3D3D"/>
                </a:solidFill>
              </a:rPr>
              <a:t>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" y="4709160"/>
            <a:ext cx="8732520" cy="274320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4709160"/>
            <a:ext cx="64008" cy="274320"/>
          </a:xfrm>
          <a:prstGeom prst="rect">
            <a:avLst/>
          </a:prstGeom>
          <a:solidFill>
            <a:srgbClr val="8C5200"/>
          </a:solidFill>
          <a:ln w="12700">
            <a:solidFill>
              <a:srgbClr val="8C52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7274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3806"/>
                </a:solidFill>
              </a:rPr>
              <a:t>Zakres MVP: UI + logika scoringowa + </a:t>
            </a:r>
            <a:r>
              <a:rPr lang="pl-PL" sz="850" dirty="0">
                <a:solidFill>
                  <a:srgbClr val="633806"/>
                </a:solidFill>
              </a:rPr>
              <a:t>testowe</a:t>
            </a:r>
            <a:r>
              <a:rPr lang="en-US" sz="850" dirty="0">
                <a:solidFill>
                  <a:srgbClr val="633806"/>
                </a:solidFill>
              </a:rPr>
              <a:t> dane bankowe. Real Open Banking API: 4 tygodnie. BIK (opcja): 12 tygodni. KRS (opcja): 8 tygodni.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743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007E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475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Wartość biznesowa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" y="914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Cztery konkretne korzyści dla TAURON.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298448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298448"/>
            <a:ext cx="4251960" cy="54864"/>
          </a:xfrm>
          <a:prstGeom prst="rect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435608"/>
            <a:ext cx="594360" cy="594360"/>
          </a:xfrm>
          <a:prstGeom prst="ellipse">
            <a:avLst/>
          </a:prstGeom>
          <a:solidFill>
            <a:srgbClr val="C0003A"/>
          </a:solidFill>
          <a:ln w="12700">
            <a:solidFill>
              <a:srgbClr val="C00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435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~50%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Redukcja strat kredytowych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210312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Wczesne wykrywanie ryzyka zanim klient trafi do windykacji.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Naleznosci 30-90 dni (15 mln zl) sa jeszcze odzyskiwalne.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Mniej spraw sadowych = nizsze koszty prawne i komornicze.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99432" y="1298448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1298448"/>
            <a:ext cx="4251960" cy="54864"/>
          </a:xfrm>
          <a:prstGeom prst="rect">
            <a:avLst/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1435608"/>
            <a:ext cx="594360" cy="594360"/>
          </a:xfrm>
          <a:prstGeom prst="ellipse">
            <a:avLst/>
          </a:prstGeom>
          <a:solidFill>
            <a:srgbClr val="0A8060"/>
          </a:solidFill>
          <a:ln w="12700">
            <a:solidFill>
              <a:srgbClr val="0A8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435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PLN+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Cross-sell i aktywna sprzedaz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210312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System wykrywa sygnal w historii platniczej i dobiera oferte.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Przyklad: platnosci za stacje ladowania → oferta wallboxa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lub abonamentu na ladowanie EV. Fotowoltaika, </a:t>
            </a:r>
            <a:r>
              <a:rPr lang="en-US" sz="950" dirty="0" err="1">
                <a:solidFill>
                  <a:srgbClr val="3D3D3D"/>
                </a:solidFill>
              </a:rPr>
              <a:t>pompy</a:t>
            </a:r>
            <a:r>
              <a:rPr lang="en-US" sz="950" dirty="0">
                <a:solidFill>
                  <a:srgbClr val="3D3D3D"/>
                </a:solidFill>
              </a:rPr>
              <a:t> </a:t>
            </a:r>
            <a:r>
              <a:rPr lang="en-US" sz="950" dirty="0" err="1">
                <a:solidFill>
                  <a:srgbClr val="3D3D3D"/>
                </a:solidFill>
              </a:rPr>
              <a:t>ciep</a:t>
            </a:r>
            <a:r>
              <a:rPr lang="pl-PL" sz="950" dirty="0">
                <a:solidFill>
                  <a:srgbClr val="3D3D3D"/>
                </a:solidFill>
              </a:rPr>
              <a:t>ł</a:t>
            </a:r>
            <a:r>
              <a:rPr lang="en-US" sz="950" dirty="0">
                <a:solidFill>
                  <a:srgbClr val="3D3D3D"/>
                </a:solidFill>
              </a:rPr>
              <a:t>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3127248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3127248"/>
            <a:ext cx="4251960" cy="54864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" y="3264408"/>
            <a:ext cx="594360" cy="594360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32644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Personalizacja umowy i taryfy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" y="393192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Kazdy klient dostaje umowe dopasowana do swojej sytuacji.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Koniec z domyslna G11 dla wszystkich.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Rekomendacja taryfy od G11 do G14</a:t>
            </a:r>
            <a:r>
              <a:rPr lang="pl-PL" sz="950" dirty="0">
                <a:solidFill>
                  <a:srgbClr val="3D3D3D"/>
                </a:solidFill>
              </a:rPr>
              <a:t> </a:t>
            </a:r>
            <a:r>
              <a:rPr lang="en-US" sz="950" dirty="0">
                <a:solidFill>
                  <a:srgbClr val="3D3D3D"/>
                </a:solidFill>
              </a:rPr>
              <a:t>dynamic oparta na danych.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6866" y="3136392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127248"/>
            <a:ext cx="4251960" cy="54864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3264408"/>
            <a:ext cx="594360" cy="59436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2644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360°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Monitoring przez caly </a:t>
            </a:r>
            <a:r>
              <a:rPr lang="en-US" sz="1100" b="1" dirty="0" err="1">
                <a:solidFill>
                  <a:srgbClr val="1A1A1A"/>
                </a:solidFill>
              </a:rPr>
              <a:t>cykl</a:t>
            </a:r>
            <a:r>
              <a:rPr lang="en-US" sz="1100" b="1" dirty="0">
                <a:solidFill>
                  <a:srgbClr val="1A1A1A"/>
                </a:solidFill>
              </a:rPr>
              <a:t> </a:t>
            </a:r>
            <a:r>
              <a:rPr lang="pl-PL" sz="1100" b="1" dirty="0">
                <a:solidFill>
                  <a:srgbClr val="1A1A1A"/>
                </a:solidFill>
              </a:rPr>
              <a:t>ż</a:t>
            </a:r>
            <a:r>
              <a:rPr lang="en-US" sz="1100" b="1" dirty="0" err="1">
                <a:solidFill>
                  <a:srgbClr val="1A1A1A"/>
                </a:solidFill>
              </a:rPr>
              <a:t>ycia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393192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Rescoring co kwartal. Alert gdy sytuacja finansowa sie pogarsza.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Proaktywna interwencja zanim pojawi sie pierwsza zaleglosc.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Fundament pod oferte lojalnosciowa i retencje klienta.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4592" y="4773168"/>
            <a:ext cx="8732520" cy="228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4818888"/>
            <a:ext cx="109728" cy="1097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79145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D3D3D"/>
                </a:solidFill>
              </a:rPr>
              <a:t>FTR &gt; 90%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32304" y="4818888"/>
            <a:ext cx="109728" cy="1097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6896" y="479145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D3D3D"/>
                </a:solidFill>
              </a:rPr>
              <a:t>80% spraw zdalnie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08576" y="4818888"/>
            <a:ext cx="109728" cy="1097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479145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D3D3D"/>
                </a:solidFill>
              </a:rPr>
              <a:t>100% smart metrow do 2030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84848" y="4818888"/>
            <a:ext cx="109728" cy="1097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479145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D3D3D"/>
                </a:solidFill>
              </a:rPr>
              <a:t>Wzrost przychodow </a:t>
            </a:r>
            <a:r>
              <a:rPr lang="en-US" sz="800" b="1" dirty="0" err="1">
                <a:solidFill>
                  <a:srgbClr val="3D3D3D"/>
                </a:solidFill>
              </a:rPr>
              <a:t>ze</a:t>
            </a:r>
            <a:r>
              <a:rPr lang="en-US" sz="800" b="1" dirty="0">
                <a:solidFill>
                  <a:srgbClr val="3D3D3D"/>
                </a:solidFill>
              </a:rPr>
              <a:t> </a:t>
            </a:r>
            <a:r>
              <a:rPr lang="pl-PL" sz="800" b="1" dirty="0">
                <a:solidFill>
                  <a:srgbClr val="3D3D3D"/>
                </a:solidFill>
              </a:rPr>
              <a:t>s</a:t>
            </a:r>
            <a:r>
              <a:rPr lang="en-US" sz="800" b="1" dirty="0" err="1">
                <a:solidFill>
                  <a:srgbClr val="3D3D3D"/>
                </a:solidFill>
              </a:rPr>
              <a:t>przeda</a:t>
            </a:r>
            <a:r>
              <a:rPr lang="pl-PL" sz="800" b="1" dirty="0">
                <a:solidFill>
                  <a:srgbClr val="3D3D3D"/>
                </a:solidFill>
              </a:rPr>
              <a:t>ż</a:t>
            </a:r>
            <a:r>
              <a:rPr lang="en-US" sz="800" b="1" dirty="0">
                <a:solidFill>
                  <a:srgbClr val="3D3D3D"/>
                </a:solidFill>
              </a:rPr>
              <a:t>y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29200" y="4828032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-640080"/>
            <a:ext cx="2377440" cy="2377440"/>
          </a:xfrm>
          <a:prstGeom prst="ellipse">
            <a:avLst/>
          </a:prstGeom>
          <a:solidFill>
            <a:srgbClr val="CC006E">
              <a:alpha val="45000"/>
            </a:srgbClr>
          </a:solidFill>
          <a:ln w="12700">
            <a:solidFill>
              <a:srgbClr val="CC006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3383280"/>
            <a:ext cx="1920240" cy="1920240"/>
          </a:xfrm>
          <a:prstGeom prst="ellipse">
            <a:avLst/>
          </a:prstGeom>
          <a:solidFill>
            <a:srgbClr val="FF40A0">
              <a:alpha val="35000"/>
            </a:srgbClr>
          </a:solidFill>
          <a:ln w="12700">
            <a:solidFill>
              <a:srgbClr val="FF40A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685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 err="1">
                <a:solidFill>
                  <a:srgbClr val="FFCCE8"/>
                </a:solidFill>
              </a:rPr>
              <a:t>Propozycja</a:t>
            </a:r>
            <a:r>
              <a:rPr lang="en-US" sz="900" i="1" dirty="0">
                <a:solidFill>
                  <a:srgbClr val="FFCCE8"/>
                </a:solidFill>
              </a:rPr>
              <a:t> </a:t>
            </a:r>
            <a:r>
              <a:rPr lang="en-US" sz="900" i="1" dirty="0" err="1">
                <a:solidFill>
                  <a:srgbClr val="FFCCE8"/>
                </a:solidFill>
              </a:rPr>
              <a:t>rozwi</a:t>
            </a:r>
            <a:r>
              <a:rPr lang="pl-PL" sz="900" i="1" dirty="0">
                <a:solidFill>
                  <a:srgbClr val="FFCCE8"/>
                </a:solidFill>
              </a:rPr>
              <a:t>ą</a:t>
            </a:r>
            <a:r>
              <a:rPr lang="en-US" sz="900" i="1" dirty="0" err="1">
                <a:solidFill>
                  <a:srgbClr val="FFCCE8"/>
                </a:solidFill>
              </a:rPr>
              <a:t>zania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0" y="10058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PowerScore</a:t>
            </a:r>
            <a:endParaRPr lang="en-US" sz="3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0" y="20848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CCE8"/>
                </a:solidFill>
              </a:rPr>
              <a:t>Jeden system.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CCE8"/>
                </a:solidFill>
              </a:rPr>
              <a:t>Ca</a:t>
            </a:r>
            <a:r>
              <a:rPr lang="pl-PL" sz="1300" dirty="0">
                <a:solidFill>
                  <a:srgbClr val="FFCCE8"/>
                </a:solidFill>
              </a:rPr>
              <a:t>ł</a:t>
            </a:r>
            <a:r>
              <a:rPr lang="en-US" sz="1300" dirty="0">
                <a:solidFill>
                  <a:srgbClr val="FFCCE8"/>
                </a:solidFill>
              </a:rPr>
              <a:t>y </a:t>
            </a:r>
            <a:r>
              <a:rPr lang="en-US" sz="1300" dirty="0" err="1">
                <a:solidFill>
                  <a:srgbClr val="FFCCE8"/>
                </a:solidFill>
              </a:rPr>
              <a:t>cykl</a:t>
            </a:r>
            <a:r>
              <a:rPr lang="en-US" sz="1300" dirty="0">
                <a:solidFill>
                  <a:srgbClr val="FFCCE8"/>
                </a:solidFill>
              </a:rPr>
              <a:t> </a:t>
            </a:r>
            <a:r>
              <a:rPr lang="pl-PL" sz="1300" dirty="0">
                <a:solidFill>
                  <a:srgbClr val="FFCCE8"/>
                </a:solidFill>
              </a:rPr>
              <a:t>ż</a:t>
            </a:r>
            <a:r>
              <a:rPr lang="en-US" sz="1300" dirty="0" err="1">
                <a:solidFill>
                  <a:srgbClr val="FFCCE8"/>
                </a:solidFill>
              </a:rPr>
              <a:t>ycia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CCE8"/>
                </a:solidFill>
              </a:rPr>
              <a:t>klienta.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 rotWithShape="1">
          <a:blip r:embed="rId3"/>
          <a:srcRect t="6251"/>
          <a:stretch/>
        </p:blipFill>
        <p:spPr>
          <a:xfrm>
            <a:off x="6675120" y="4224528"/>
            <a:ext cx="1316736" cy="57607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" y="2743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007E"/>
                </a:solidFill>
              </a:rPr>
              <a:t>Najczeszciej zadawane pytania — gotowe odpowiedzi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" y="685800"/>
            <a:ext cx="5577840" cy="1143000"/>
          </a:xfrm>
          <a:prstGeom prst="rect">
            <a:avLst/>
          </a:prstGeom>
          <a:solidFill>
            <a:srgbClr val="212121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" y="685800"/>
            <a:ext cx="64008" cy="1143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777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Czemu Open Banking, nie BIK?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472" y="10698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99999"/>
                </a:solidFill>
              </a:rPr>
              <a:t>Open Banking daje aktualny obraz sytuacji klienta — historia transakcji, salda, wzorce. Szybszy i tanszy. BIK zostaje jako opcjonalne rozszerzenie </a:t>
            </a:r>
            <a:r>
              <a:rPr lang="en-US" sz="950" dirty="0" err="1">
                <a:solidFill>
                  <a:srgbClr val="999999"/>
                </a:solidFill>
              </a:rPr>
              <a:t>dla</a:t>
            </a:r>
            <a:r>
              <a:rPr lang="en-US" sz="950" dirty="0">
                <a:solidFill>
                  <a:srgbClr val="999999"/>
                </a:solidFill>
              </a:rPr>
              <a:t> </a:t>
            </a:r>
            <a:r>
              <a:rPr lang="en-US" sz="950" dirty="0" err="1">
                <a:solidFill>
                  <a:srgbClr val="999999"/>
                </a:solidFill>
              </a:rPr>
              <a:t>klient</a:t>
            </a:r>
            <a:r>
              <a:rPr lang="pl-PL" sz="950" dirty="0">
                <a:solidFill>
                  <a:srgbClr val="999999"/>
                </a:solidFill>
              </a:rPr>
              <a:t>ó</a:t>
            </a:r>
            <a:r>
              <a:rPr lang="en-US" sz="950" dirty="0">
                <a:solidFill>
                  <a:srgbClr val="999999"/>
                </a:solidFill>
              </a:rPr>
              <a:t>w </a:t>
            </a:r>
            <a:r>
              <a:rPr lang="en-US" sz="950" dirty="0" err="1">
                <a:solidFill>
                  <a:srgbClr val="999999"/>
                </a:solidFill>
              </a:rPr>
              <a:t>wymagaj</a:t>
            </a:r>
            <a:r>
              <a:rPr lang="pl-PL" sz="950" dirty="0">
                <a:solidFill>
                  <a:srgbClr val="999999"/>
                </a:solidFill>
              </a:rPr>
              <a:t>ą</a:t>
            </a:r>
            <a:r>
              <a:rPr lang="en-US" sz="950" dirty="0" err="1">
                <a:solidFill>
                  <a:srgbClr val="999999"/>
                </a:solidFill>
              </a:rPr>
              <a:t>cych</a:t>
            </a:r>
            <a:r>
              <a:rPr lang="en-US" sz="950" dirty="0">
                <a:solidFill>
                  <a:srgbClr val="999999"/>
                </a:solidFill>
              </a:rPr>
              <a:t> g</a:t>
            </a:r>
            <a:r>
              <a:rPr lang="pl-PL" sz="950" dirty="0">
                <a:solidFill>
                  <a:srgbClr val="999999"/>
                </a:solidFill>
              </a:rPr>
              <a:t>ł</a:t>
            </a:r>
            <a:r>
              <a:rPr lang="en-US" sz="950" dirty="0" err="1">
                <a:solidFill>
                  <a:srgbClr val="999999"/>
                </a:solidFill>
              </a:rPr>
              <a:t>ebszej</a:t>
            </a:r>
            <a:r>
              <a:rPr lang="en-US" sz="950" dirty="0">
                <a:solidFill>
                  <a:srgbClr val="999999"/>
                </a:solidFill>
              </a:rPr>
              <a:t> weryfikacji.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01168" y="1920240"/>
            <a:ext cx="5577840" cy="1143000"/>
          </a:xfrm>
          <a:prstGeom prst="rect">
            <a:avLst/>
          </a:prstGeom>
          <a:solidFill>
            <a:srgbClr val="212121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1168" y="1920240"/>
            <a:ext cx="64008" cy="1143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2011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 konkretnie robi AI?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47472" y="230428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99999"/>
                </a:solidFill>
              </a:rPr>
              <a:t>Model </a:t>
            </a:r>
            <a:r>
              <a:rPr lang="en-US" sz="950" dirty="0" err="1">
                <a:solidFill>
                  <a:srgbClr val="999999"/>
                </a:solidFill>
              </a:rPr>
              <a:t>klasyfikacji</a:t>
            </a:r>
            <a:r>
              <a:rPr lang="pl-PL" sz="950" dirty="0">
                <a:solidFill>
                  <a:srgbClr val="999999"/>
                </a:solidFill>
              </a:rPr>
              <a:t> </a:t>
            </a:r>
            <a:r>
              <a:rPr lang="en-US" sz="950" dirty="0" err="1">
                <a:solidFill>
                  <a:srgbClr val="999999"/>
                </a:solidFill>
              </a:rPr>
              <a:t>na</a:t>
            </a:r>
            <a:r>
              <a:rPr lang="en-US" sz="950" dirty="0">
                <a:solidFill>
                  <a:srgbClr val="999999"/>
                </a:solidFill>
              </a:rPr>
              <a:t> </a:t>
            </a:r>
            <a:r>
              <a:rPr lang="pl-PL" sz="950" dirty="0">
                <a:solidFill>
                  <a:srgbClr val="999999"/>
                </a:solidFill>
              </a:rPr>
              <a:t> szeregu zmiennych</a:t>
            </a:r>
            <a:r>
              <a:rPr lang="en-US" sz="950" dirty="0">
                <a:solidFill>
                  <a:srgbClr val="999999"/>
                </a:solidFill>
              </a:rPr>
              <a:t>: finansowych + </a:t>
            </a:r>
            <a:r>
              <a:rPr lang="en-US" sz="950" dirty="0" err="1">
                <a:solidFill>
                  <a:srgbClr val="999999"/>
                </a:solidFill>
              </a:rPr>
              <a:t>energetycznych</a:t>
            </a:r>
            <a:r>
              <a:rPr lang="pl-PL" sz="950" dirty="0">
                <a:solidFill>
                  <a:srgbClr val="999999"/>
                </a:solidFill>
              </a:rPr>
              <a:t> (jeśli są dostępne)</a:t>
            </a:r>
            <a:r>
              <a:rPr lang="en-US" sz="950" dirty="0">
                <a:solidFill>
                  <a:srgbClr val="999999"/>
                </a:solidFill>
              </a:rPr>
              <a:t>. LLM generuje uzasadnienie zgodne z RODO</a:t>
            </a:r>
            <a:r>
              <a:rPr lang="pl-PL" sz="950" dirty="0">
                <a:solidFill>
                  <a:srgbClr val="999999"/>
                </a:solidFill>
              </a:rPr>
              <a:t>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1168" y="3154680"/>
            <a:ext cx="5577840" cy="1143000"/>
          </a:xfrm>
          <a:prstGeom prst="rect">
            <a:avLst/>
          </a:prstGeom>
          <a:solidFill>
            <a:srgbClr val="212121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1168" y="3154680"/>
            <a:ext cx="64008" cy="1143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3246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 zbudowaliscie naprawde?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47472" y="35387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99999"/>
                </a:solidFill>
              </a:rPr>
              <a:t>UI + silnik </a:t>
            </a:r>
            <a:r>
              <a:rPr lang="en-US" sz="950" dirty="0" err="1">
                <a:solidFill>
                  <a:srgbClr val="999999"/>
                </a:solidFill>
              </a:rPr>
              <a:t>scoringowy</a:t>
            </a:r>
            <a:r>
              <a:rPr lang="en-US" sz="950" dirty="0">
                <a:solidFill>
                  <a:srgbClr val="999999"/>
                </a:solidFill>
              </a:rPr>
              <a:t> +</a:t>
            </a:r>
            <a:r>
              <a:rPr lang="pl-PL" sz="950" dirty="0">
                <a:solidFill>
                  <a:srgbClr val="999999"/>
                </a:solidFill>
              </a:rPr>
              <a:t> test </a:t>
            </a:r>
            <a:r>
              <a:rPr lang="en-US" sz="950" dirty="0">
                <a:solidFill>
                  <a:srgbClr val="999999"/>
                </a:solidFill>
              </a:rPr>
              <a:t>data: dziala dziś. Real Open Banking: 4 tyg. BIK: 12 tyg. Kazda faza dostarcza wartosc niezaleznie.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01168" y="4434840"/>
            <a:ext cx="557784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4480560"/>
            <a:ext cx="402336" cy="402336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JZ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9808" y="4498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Jan Ziomek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9808" y="4681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99999"/>
                </a:solidFill>
              </a:rPr>
              <a:t>Project Lead / Legal AI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121408" y="4480560"/>
            <a:ext cx="402336" cy="402336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21408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PK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96896" y="4498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Piotr Kami</a:t>
            </a:r>
            <a:r>
              <a:rPr lang="pl-PL" sz="850" b="1" dirty="0">
                <a:solidFill>
                  <a:srgbClr val="FFFFFF"/>
                </a:solidFill>
              </a:rPr>
              <a:t>ń</a:t>
            </a:r>
            <a:r>
              <a:rPr lang="en-US" sz="850" b="1" dirty="0">
                <a:solidFill>
                  <a:srgbClr val="FFFFFF"/>
                </a:solidFill>
              </a:rPr>
              <a:t>ski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596896" y="4681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750" dirty="0" err="1">
                <a:solidFill>
                  <a:srgbClr val="999999"/>
                </a:solidFill>
              </a:rPr>
              <a:t>Frontend</a:t>
            </a:r>
            <a:r>
              <a:rPr lang="en-US" sz="750" dirty="0">
                <a:solidFill>
                  <a:srgbClr val="999999"/>
                </a:solidFill>
              </a:rPr>
              <a:t> / AI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968496" y="4480560"/>
            <a:ext cx="402336" cy="402336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68496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PB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43984" y="4498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Pawe</a:t>
            </a:r>
            <a:r>
              <a:rPr lang="pl-PL" sz="850" b="1" dirty="0">
                <a:solidFill>
                  <a:srgbClr val="FFFFFF"/>
                </a:solidFill>
              </a:rPr>
              <a:t>ł Dziewit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443984" y="4681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750" dirty="0" err="1">
                <a:solidFill>
                  <a:srgbClr val="999999"/>
                </a:solidFill>
              </a:rPr>
              <a:t>Backend</a:t>
            </a:r>
            <a:r>
              <a:rPr lang="en-US" sz="750" dirty="0">
                <a:solidFill>
                  <a:srgbClr val="999999"/>
                </a:solidFill>
              </a:rPr>
              <a:t> 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885</Words>
  <Application>Microsoft Office PowerPoint</Application>
  <PresentationFormat>Pokaz na ekranie (16:9)</PresentationFormat>
  <Paragraphs>147</Paragraphs>
  <Slides>6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PowerScore AI — Pitch Deck Final</dc:title>
  <dc:subject>PptxGenJS Presentation</dc:subject>
  <dc:creator>Jan Ziomek</dc:creator>
  <cp:lastModifiedBy>Jan Ziomek</cp:lastModifiedBy>
  <cp:revision>13</cp:revision>
  <dcterms:created xsi:type="dcterms:W3CDTF">2026-04-18T20:21:58Z</dcterms:created>
  <dcterms:modified xsi:type="dcterms:W3CDTF">2026-04-18T22:49:16Z</dcterms:modified>
</cp:coreProperties>
</file>